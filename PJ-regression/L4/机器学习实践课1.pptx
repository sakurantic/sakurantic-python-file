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1" r:id="rId2"/>
    <p:sldId id="567" r:id="rId3"/>
    <p:sldId id="569" r:id="rId4"/>
    <p:sldId id="568" r:id="rId5"/>
    <p:sldId id="546" r:id="rId6"/>
    <p:sldId id="548" r:id="rId7"/>
    <p:sldId id="572" r:id="rId8"/>
    <p:sldId id="573" r:id="rId9"/>
    <p:sldId id="538" r:id="rId10"/>
    <p:sldId id="574" r:id="rId11"/>
    <p:sldId id="260" r:id="rId12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40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orient="horz" pos="1537" userDrawn="1">
          <p15:clr>
            <a:srgbClr val="A4A3A4"/>
          </p15:clr>
        </p15:guide>
        <p15:guide id="7" orient="horz" pos="3116" userDrawn="1">
          <p15:clr>
            <a:srgbClr val="A4A3A4"/>
          </p15:clr>
        </p15:guide>
        <p15:guide id="8" pos="2128" userDrawn="1">
          <p15:clr>
            <a:srgbClr val="A4A3A4"/>
          </p15:clr>
        </p15:guide>
        <p15:guide id="9" pos="4067" userDrawn="1">
          <p15:clr>
            <a:srgbClr val="A4A3A4"/>
          </p15:clr>
        </p15:guide>
        <p15:guide id="10" pos="5972" userDrawn="1">
          <p15:clr>
            <a:srgbClr val="A4A3A4"/>
          </p15:clr>
        </p15:guide>
        <p15:guide id="11" pos="5292" userDrawn="1">
          <p15:clr>
            <a:srgbClr val="A4A3A4"/>
          </p15:clr>
        </p15:guide>
        <p15:guide id="12" pos="22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C00000"/>
    <a:srgbClr val="CC0000"/>
    <a:srgbClr val="3333FF"/>
    <a:srgbClr val="CC00CC"/>
    <a:srgbClr val="FFFFFF"/>
    <a:srgbClr val="C8171F"/>
    <a:srgbClr val="DB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C181F8-794E-144F-9A83-44B754A72080}" v="305" dt="2026-04-17T19:05:19.0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5" autoAdjust="0"/>
    <p:restoredTop sz="94250" autoAdjust="0"/>
  </p:normalViewPr>
  <p:slideViewPr>
    <p:cSldViewPr snapToGrid="0" showGuides="1">
      <p:cViewPr>
        <p:scale>
          <a:sx n="145" d="100"/>
          <a:sy n="145" d="100"/>
        </p:scale>
        <p:origin x="1472" y="144"/>
      </p:cViewPr>
      <p:guideLst>
        <p:guide pos="3840"/>
        <p:guide orient="horz" pos="1003"/>
        <p:guide orient="horz" pos="1537"/>
        <p:guide orient="horz" pos="3116"/>
        <p:guide pos="2128"/>
        <p:guide pos="4067"/>
        <p:guide pos="5972"/>
        <p:guide pos="5292"/>
        <p:guide pos="2275"/>
      </p:guideLst>
    </p:cSldViewPr>
  </p:slideViewPr>
  <p:outlineViewPr>
    <p:cViewPr>
      <p:scale>
        <a:sx n="33" d="100"/>
        <a:sy n="33" d="100"/>
      </p:scale>
      <p:origin x="0" y="-780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375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2A60F-63B3-4D54-AA63-B159FADA9F31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4E6C1-322F-4AF4-A541-6A7DCE38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13A3C-D0C5-45C0-BD52-194E76396705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D5545-95D4-489F-B8ED-7EAFA774B5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线性回归普遍存在。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261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EFB3A-35F3-A172-2B35-A40E89B2D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67565F-F572-94FE-999A-38059BBD6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CCEBEB-EEC5-13D9-4559-F76D36DE8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线性回归普遍存在。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6509B1-7035-1409-3D5F-AF287133C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679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这是好的结果吗？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79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3773-A9AD-CDA9-454D-5632C4829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D64081-D13D-AFBF-A8F1-73520AAEE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23E44E-028C-559B-FF27-99392FEF9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这是好的结果吗？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021FCA-67B2-0F5B-DB8C-09A7BFC76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D5545-95D4-489F-B8ED-7EAFA774B56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360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4">
              <a:alphaModFix amt="35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2790" b="-9084"/>
          <a:stretch>
            <a:fillRect/>
          </a:stretch>
        </p:blipFill>
        <p:spPr>
          <a:xfrm>
            <a:off x="332010" y="251356"/>
            <a:ext cx="1996577" cy="526439"/>
          </a:xfrm>
          <a:prstGeom prst="rect">
            <a:avLst/>
          </a:prstGeom>
        </p:spPr>
      </p:pic>
      <p:sp>
        <p:nvSpPr>
          <p:cNvPr id="16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4535233" y="5191861"/>
            <a:ext cx="3121533" cy="4590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04801" y="2455636"/>
            <a:ext cx="4122058" cy="143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图片包含 建筑物&#10;&#10;自动生成的说明"/>
          <p:cNvPicPr>
            <a:picLocks noChangeAspect="1"/>
          </p:cNvPicPr>
          <p:nvPr/>
        </p:nvPicPr>
        <p:blipFill>
          <a:blip r:embed="rId3" cstate="print">
            <a:alphaModFix amt="25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924" y="4902201"/>
            <a:ext cx="7179060" cy="2311400"/>
          </a:xfrm>
          <a:prstGeom prst="rect">
            <a:avLst/>
          </a:prstGeom>
          <a:effectLst/>
        </p:spPr>
      </p:pic>
      <p:sp>
        <p:nvSpPr>
          <p:cNvPr id="8" name="文本框 7"/>
          <p:cNvSpPr txBox="1"/>
          <p:nvPr/>
        </p:nvSpPr>
        <p:spPr>
          <a:xfrm>
            <a:off x="737508" y="2713335"/>
            <a:ext cx="32566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accent1"/>
                </a:solidFill>
              </a:rPr>
              <a:t>目    录</a:t>
            </a:r>
          </a:p>
        </p:txBody>
      </p:sp>
      <p:sp>
        <p:nvSpPr>
          <p:cNvPr id="9" name="矩形 8"/>
          <p:cNvSpPr/>
          <p:nvPr/>
        </p:nvSpPr>
        <p:spPr>
          <a:xfrm rot="16200000">
            <a:off x="2320829" y="1812287"/>
            <a:ext cx="90000" cy="4122058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 flipV="1">
            <a:off x="4897924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376332"/>
            <a:ext cx="12166903" cy="41161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 bwMode="auto">
          <a:xfrm>
            <a:off x="0" y="-3812"/>
            <a:ext cx="340383" cy="772274"/>
          </a:xfrm>
          <a:prstGeom prst="rect">
            <a:avLst/>
          </a:prstGeom>
          <a:solidFill>
            <a:srgbClr val="C8171F"/>
          </a:solidFill>
          <a:ln w="0">
            <a:noFill/>
            <a:prstDash val="solid"/>
            <a:round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>
              <a:solidFill>
                <a:srgbClr val="000000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" name="直线连接符 98"/>
          <p:cNvCxnSpPr/>
          <p:nvPr userDrawn="1"/>
        </p:nvCxnSpPr>
        <p:spPr>
          <a:xfrm>
            <a:off x="0" y="768462"/>
            <a:ext cx="12192000" cy="0"/>
          </a:xfrm>
          <a:prstGeom prst="line">
            <a:avLst/>
          </a:prstGeom>
          <a:noFill/>
          <a:ln w="19050" cap="flat" cmpd="sng" algn="ctr">
            <a:solidFill>
              <a:srgbClr val="C8171F"/>
            </a:solidFill>
            <a:prstDash val="solid"/>
            <a:miter lim="800000"/>
          </a:ln>
          <a:effectLst/>
        </p:spPr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9241" y="76994"/>
            <a:ext cx="610445" cy="6106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2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762" y="918446"/>
            <a:ext cx="5613400" cy="18669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占位符 24" descr="图片包含 户外, 树, 建筑物, 天空&#10;&#10;自动生成的说明"/>
          <p:cNvPicPr>
            <a:picLocks noGrp="1" noChangeAspect="1"/>
          </p:cNvPicPr>
          <p:nvPr>
            <p:ph type="pic" sz="quarter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9" b="29999"/>
          <a:stretch>
            <a:fillRect/>
          </a:stretch>
        </p:blipFill>
        <p:spPr>
          <a:xfrm>
            <a:off x="-11430" y="749300"/>
            <a:ext cx="12203430" cy="3192145"/>
          </a:xfrm>
        </p:spPr>
      </p:pic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线性回归</a:t>
            </a:r>
            <a:r>
              <a:rPr lang="zh-CN" altLang="en-US" dirty="0"/>
              <a:t>实验</a:t>
            </a:r>
            <a:endParaRPr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fld id="{C9F65FB5-5267-4E5A-BCF9-EA44443C8FA1}" type="datetime2">
              <a:rPr lang="zh-CN" altLang="en-US" smtClean="0"/>
              <a:t>2026年4月17日 Friday</a:t>
            </a:fld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刘满华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/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1. </a:t>
            </a:r>
            <a:r>
              <a:rPr lang="zh-CN" altLang="en-US" sz="3200" b="1" dirty="0">
                <a:solidFill>
                  <a:srgbClr val="C8171F"/>
                </a:solidFill>
              </a:rPr>
              <a:t>背景知识</a:t>
            </a:r>
            <a:endParaRPr kumimoji="1" lang="zh-CN" altLang="en-US" sz="32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A7EB461-B2CA-0B25-2EDF-F6AB51512B0A}"/>
              </a:ext>
            </a:extLst>
          </p:cNvPr>
          <p:cNvSpPr txBox="1"/>
          <p:nvPr/>
        </p:nvSpPr>
        <p:spPr>
          <a:xfrm>
            <a:off x="196645" y="965630"/>
            <a:ext cx="3975234" cy="7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20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400" dirty="0">
                <a:cs typeface="Times New Roman" panose="02020603050405020304" pitchFamily="18" charset="0"/>
              </a:rPr>
              <a:t>线性回归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pic>
        <p:nvPicPr>
          <p:cNvPr id="1026" name="Picture 2" descr="计算统计学与数据科学03：线性回归- YEY 的博客| YEY Blog">
            <a:extLst>
              <a:ext uri="{FF2B5EF4-FFF2-40B4-BE49-F238E27FC236}">
                <a16:creationId xmlns:a16="http://schemas.microsoft.com/office/drawing/2014/main" id="{1A0EA60E-6291-8B23-D01F-D46C328B7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287" y="1971454"/>
            <a:ext cx="8785425" cy="4002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CD4EB260-1F01-CE09-1C03-92D52509208B}"/>
              </a:ext>
            </a:extLst>
          </p:cNvPr>
          <p:cNvSpPr txBox="1"/>
          <p:nvPr/>
        </p:nvSpPr>
        <p:spPr>
          <a:xfrm>
            <a:off x="4301612" y="148449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/>
              <a:t>广告投放量与产品销量的关系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64EFA49-EFFD-2E9D-F62D-405973674169}"/>
                  </a:ext>
                </a:extLst>
              </p:cNvPr>
              <p:cNvSpPr txBox="1"/>
              <p:nvPr/>
            </p:nvSpPr>
            <p:spPr>
              <a:xfrm>
                <a:off x="2320453" y="1271734"/>
                <a:ext cx="16018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64EFA49-EFFD-2E9D-F62D-405973674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0453" y="1271734"/>
                <a:ext cx="1601849" cy="369332"/>
              </a:xfrm>
              <a:prstGeom prst="rect">
                <a:avLst/>
              </a:prstGeom>
              <a:blipFill>
                <a:blip r:embed="rId4"/>
                <a:stretch>
                  <a:fillRect l="-3150" t="-13333" r="-3150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6209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61DF7-F8E8-2D4A-9DBF-1A8839104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>
            <a:extLst>
              <a:ext uri="{FF2B5EF4-FFF2-40B4-BE49-F238E27FC236}">
                <a16:creationId xmlns:a16="http://schemas.microsoft.com/office/drawing/2014/main" id="{8FE394BA-3BFF-4A3A-2A0E-9C3E19673D00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1.</a:t>
            </a:r>
            <a:r>
              <a:rPr lang="zh-CN" altLang="en-US" sz="3200" b="1" dirty="0">
                <a:solidFill>
                  <a:srgbClr val="C8171F"/>
                </a:solidFill>
              </a:rPr>
              <a:t> 背景知识</a:t>
            </a:r>
            <a:endParaRPr kumimoji="1" lang="zh-CN" altLang="en-US" sz="3200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63219E6-3E42-8C93-6F32-43C83FDC9304}"/>
              </a:ext>
            </a:extLst>
          </p:cNvPr>
          <p:cNvSpPr txBox="1"/>
          <p:nvPr/>
        </p:nvSpPr>
        <p:spPr>
          <a:xfrm>
            <a:off x="196644" y="965630"/>
            <a:ext cx="4847303" cy="7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20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400" dirty="0">
                <a:cs typeface="Times New Roman" panose="02020603050405020304" pitchFamily="18" charset="0"/>
              </a:rPr>
              <a:t>如何得到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10CB74-93C1-8E33-1015-2D02FEF17EC4}"/>
              </a:ext>
            </a:extLst>
          </p:cNvPr>
          <p:cNvSpPr txBox="1"/>
          <p:nvPr/>
        </p:nvSpPr>
        <p:spPr>
          <a:xfrm>
            <a:off x="196644" y="1684545"/>
            <a:ext cx="6282814" cy="7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在机器学习中，我们首先随机选择</a:t>
            </a:r>
            <a:endParaRPr lang="en-US" altLang="zh-CN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F664710-1C3B-B44A-740F-1E36ADEB231D}"/>
                  </a:ext>
                </a:extLst>
              </p:cNvPr>
              <p:cNvSpPr txBox="1"/>
              <p:nvPr/>
            </p:nvSpPr>
            <p:spPr>
              <a:xfrm>
                <a:off x="2231922" y="1242467"/>
                <a:ext cx="16018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F664710-1C3B-B44A-740F-1E36ADEB2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922" y="1242467"/>
                <a:ext cx="1601849" cy="369332"/>
              </a:xfrm>
              <a:prstGeom prst="rect">
                <a:avLst/>
              </a:prstGeom>
              <a:blipFill>
                <a:blip r:embed="rId3"/>
                <a:stretch>
                  <a:fillRect l="-3150" t="-13333" r="-393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417430AC-2289-12F8-F3A9-72D2E6D1F94A}"/>
              </a:ext>
            </a:extLst>
          </p:cNvPr>
          <p:cNvSpPr txBox="1"/>
          <p:nvPr/>
        </p:nvSpPr>
        <p:spPr>
          <a:xfrm>
            <a:off x="3833771" y="1222880"/>
            <a:ext cx="946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中的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FD58082-2F37-98CC-45DE-04A1A664CC88}"/>
                  </a:ext>
                </a:extLst>
              </p:cNvPr>
              <p:cNvSpPr txBox="1"/>
              <p:nvPr/>
            </p:nvSpPr>
            <p:spPr>
              <a:xfrm>
                <a:off x="4603794" y="1242467"/>
                <a:ext cx="6088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FD58082-2F37-98CC-45DE-04A1A664C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794" y="1242467"/>
                <a:ext cx="608885" cy="369332"/>
              </a:xfrm>
              <a:prstGeom prst="rect">
                <a:avLst/>
              </a:prstGeom>
              <a:blipFill>
                <a:blip r:embed="rId4"/>
                <a:stretch>
                  <a:fillRect l="-4082" r="-10204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444B569-6AA8-9B75-22E5-678AA8FC92AE}"/>
                  </a:ext>
                </a:extLst>
              </p:cNvPr>
              <p:cNvSpPr txBox="1"/>
              <p:nvPr/>
            </p:nvSpPr>
            <p:spPr>
              <a:xfrm>
                <a:off x="5611600" y="1955306"/>
                <a:ext cx="6088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kumimoji="1"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444B569-6AA8-9B75-22E5-678AA8FC9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600" y="1955306"/>
                <a:ext cx="608885" cy="369332"/>
              </a:xfrm>
              <a:prstGeom prst="rect">
                <a:avLst/>
              </a:prstGeom>
              <a:blipFill>
                <a:blip r:embed="rId5"/>
                <a:stretch>
                  <a:fillRect l="-6250" r="-10417" b="-10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45CC165D-CF28-4634-8F41-0F7FD5FEC479}"/>
              </a:ext>
            </a:extLst>
          </p:cNvPr>
          <p:cNvSpPr txBox="1"/>
          <p:nvPr/>
        </p:nvSpPr>
        <p:spPr>
          <a:xfrm>
            <a:off x="196644" y="2476206"/>
            <a:ext cx="6282814" cy="7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20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400" dirty="0">
                <a:cs typeface="Times New Roman" panose="02020603050405020304" pitchFamily="18" charset="0"/>
              </a:rPr>
              <a:t>定义一个衡量我们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8DA82D6-1F1D-3702-1ADD-D26FF2A5C1A8}"/>
                  </a:ext>
                </a:extLst>
              </p:cNvPr>
              <p:cNvSpPr txBox="1"/>
              <p:nvPr/>
            </p:nvSpPr>
            <p:spPr>
              <a:xfrm>
                <a:off x="3510114" y="2753043"/>
                <a:ext cx="16018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8DA82D6-1F1D-3702-1ADD-D26FF2A5C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114" y="2753043"/>
                <a:ext cx="1601849" cy="369332"/>
              </a:xfrm>
              <a:prstGeom prst="rect">
                <a:avLst/>
              </a:prstGeom>
              <a:blipFill>
                <a:blip r:embed="rId6"/>
                <a:stretch>
                  <a:fillRect l="-3150" t="-13333" r="-393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3518B264-04CA-3AEA-FF51-6E6E8B5CBCC2}"/>
              </a:ext>
            </a:extLst>
          </p:cNvPr>
          <p:cNvSpPr txBox="1"/>
          <p:nvPr/>
        </p:nvSpPr>
        <p:spPr>
          <a:xfrm>
            <a:off x="5083121" y="2733456"/>
            <a:ext cx="18781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好坏的标准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5D0A2B4-CAA2-C27D-7541-9FEA39D280B6}"/>
                  </a:ext>
                </a:extLst>
              </p:cNvPr>
              <p:cNvSpPr txBox="1"/>
              <p:nvPr/>
            </p:nvSpPr>
            <p:spPr>
              <a:xfrm>
                <a:off x="580284" y="3386067"/>
                <a:ext cx="6506974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MSE</m:t>
                      </m:r>
                      <m:r>
                        <a:rPr kumimoji="1" lang="en-US" altLang="zh-CN" sz="2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zh-CN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zh-CN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kumimoji="1" lang="en-US" altLang="zh-CN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zh-CN" sz="2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kumimoji="1"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kumimoji="1"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zh-CN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zh-CN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zh-CN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kumimoji="1" lang="en-US" altLang="zh-CN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zh-CN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zh-CN" sz="2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1" lang="en-US" altLang="zh-CN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kumimoji="1" lang="en-US" altLang="zh-CN" sz="2400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kumimoji="1"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1" lang="zh-CN" altLang="en-US" dirty="0"/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5D0A2B4-CAA2-C27D-7541-9FEA39D28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84" y="3386067"/>
                <a:ext cx="6506974" cy="1008225"/>
              </a:xfrm>
              <a:prstGeom prst="rect">
                <a:avLst/>
              </a:prstGeom>
              <a:blipFill>
                <a:blip r:embed="rId7"/>
                <a:stretch>
                  <a:fillRect t="-119753" b="-1802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23366B6A-EE2A-BD4A-9C45-BEDA692D29EE}"/>
              </a:ext>
            </a:extLst>
          </p:cNvPr>
          <p:cNvSpPr txBox="1"/>
          <p:nvPr/>
        </p:nvSpPr>
        <p:spPr>
          <a:xfrm>
            <a:off x="196644" y="4686300"/>
            <a:ext cx="6282814" cy="7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20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400" dirty="0">
                <a:cs typeface="Times New Roman" panose="02020603050405020304" pitchFamily="18" charset="0"/>
              </a:rPr>
              <a:t>利用梯度下降法，更新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21EF933-30EE-1AFD-3955-466FDB2BDD71}"/>
                  </a:ext>
                </a:extLst>
              </p:cNvPr>
              <p:cNvSpPr txBox="1"/>
              <p:nvPr/>
            </p:nvSpPr>
            <p:spPr>
              <a:xfrm>
                <a:off x="4087978" y="4988789"/>
                <a:ext cx="60888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21EF933-30EE-1AFD-3955-466FDB2BD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978" y="4988789"/>
                <a:ext cx="608885" cy="369332"/>
              </a:xfrm>
              <a:prstGeom prst="rect">
                <a:avLst/>
              </a:prstGeom>
              <a:blipFill>
                <a:blip r:embed="rId8"/>
                <a:stretch>
                  <a:fillRect l="-6250" r="-10417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本框 29">
            <a:extLst>
              <a:ext uri="{FF2B5EF4-FFF2-40B4-BE49-F238E27FC236}">
                <a16:creationId xmlns:a16="http://schemas.microsoft.com/office/drawing/2014/main" id="{123DA482-7BFF-8B66-37EE-5B443D2B616F}"/>
              </a:ext>
            </a:extLst>
          </p:cNvPr>
          <p:cNvSpPr txBox="1"/>
          <p:nvPr/>
        </p:nvSpPr>
        <p:spPr>
          <a:xfrm>
            <a:off x="4684605" y="4934404"/>
            <a:ext cx="22766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cs typeface="Times New Roman" panose="02020603050405020304" pitchFamily="18" charset="0"/>
              </a:rPr>
              <a:t>使得</a:t>
            </a:r>
            <a:r>
              <a:rPr lang="en-US" altLang="zh-CN" sz="2400" dirty="0">
                <a:cs typeface="Times New Roman" panose="02020603050405020304" pitchFamily="18" charset="0"/>
              </a:rPr>
              <a:t>MSE</a:t>
            </a:r>
            <a:r>
              <a:rPr lang="zh-CN" altLang="en-US" sz="2400" dirty="0">
                <a:cs typeface="Times New Roman" panose="02020603050405020304" pitchFamily="18" charset="0"/>
              </a:rPr>
              <a:t>减小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3075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96C37-9F99-37C9-D4A1-17B68AC5C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>
            <a:extLst>
              <a:ext uri="{FF2B5EF4-FFF2-40B4-BE49-F238E27FC236}">
                <a16:creationId xmlns:a16="http://schemas.microsoft.com/office/drawing/2014/main" id="{85FF4E73-C08E-4F40-2323-98A756D0D488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1.</a:t>
            </a:r>
            <a:r>
              <a:rPr lang="zh-CN" altLang="en-US" sz="3200" b="1" dirty="0">
                <a:solidFill>
                  <a:srgbClr val="C8171F"/>
                </a:solidFill>
              </a:rPr>
              <a:t> 背景知识</a:t>
            </a:r>
            <a:endParaRPr kumimoji="1" lang="zh-CN" altLang="en-US" sz="3200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50C8BD8-55F3-353C-9668-910311FF3644}"/>
              </a:ext>
            </a:extLst>
          </p:cNvPr>
          <p:cNvSpPr txBox="1"/>
          <p:nvPr/>
        </p:nvSpPr>
        <p:spPr>
          <a:xfrm>
            <a:off x="-73744" y="936134"/>
            <a:ext cx="4272117" cy="7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20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400" dirty="0">
                <a:cs typeface="Times New Roman" panose="02020603050405020304" pitchFamily="18" charset="0"/>
              </a:rPr>
              <a:t>线性回归好坏的衡量标准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D1C3A04-8224-E7FD-4805-F77C66DEB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859" y="1719031"/>
            <a:ext cx="6944281" cy="453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7698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/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2. </a:t>
            </a:r>
            <a:r>
              <a:rPr lang="zh-CN" altLang="en-US" sz="3200" b="1" dirty="0">
                <a:solidFill>
                  <a:srgbClr val="C8171F"/>
                </a:solidFill>
              </a:rPr>
              <a:t>代码说明</a:t>
            </a:r>
            <a:r>
              <a:rPr lang="en-US" altLang="zh-CN" sz="32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3200" b="1" dirty="0"/>
              <a:t> </a:t>
            </a:r>
            <a:r>
              <a:rPr lang="en-US" altLang="zh-CN" sz="3200" b="1" dirty="0">
                <a:cs typeface="Times New Roman" panose="02020603050405020304" pitchFamily="18" charset="0"/>
              </a:rPr>
              <a:t>model</a:t>
            </a:r>
            <a:r>
              <a:rPr lang="zh-CN" altLang="en-US" sz="3200" b="1" dirty="0"/>
              <a:t>代码解读</a:t>
            </a:r>
            <a:endParaRPr kumimoji="1" lang="zh-CN" altLang="en-US" sz="32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94D9645-70F0-F27A-04EF-F6120328A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51" y="1243547"/>
            <a:ext cx="9687232" cy="43709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27B994A-91B2-B0AC-9645-37578ED41D0C}"/>
              </a:ext>
            </a:extLst>
          </p:cNvPr>
          <p:cNvSpPr/>
          <p:nvPr/>
        </p:nvSpPr>
        <p:spPr>
          <a:xfrm>
            <a:off x="2669931" y="3020155"/>
            <a:ext cx="4457700" cy="8176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3C7B417-3F06-4789-395A-E9EBF3B24D29}"/>
              </a:ext>
            </a:extLst>
          </p:cNvPr>
          <p:cNvSpPr txBox="1"/>
          <p:nvPr/>
        </p:nvSpPr>
        <p:spPr>
          <a:xfrm>
            <a:off x="5603914" y="2095871"/>
            <a:ext cx="4665501" cy="7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200000"/>
              </a:lnSpc>
              <a:buClr>
                <a:schemeClr val="tx1"/>
              </a:buClr>
              <a:buSzPct val="100000"/>
            </a:pPr>
            <a:r>
              <a:rPr lang="en-US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fit</a:t>
            </a:r>
            <a:r>
              <a:rPr lang="zh-CN" altLang="en-US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操作自动帮我们拟合了模型</a:t>
            </a:r>
            <a:endParaRPr lang="en-US" altLang="zh-CN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141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/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3. </a:t>
            </a:r>
            <a:r>
              <a:rPr lang="zh-CN" altLang="en-US" sz="3200" b="1" dirty="0">
                <a:solidFill>
                  <a:srgbClr val="C8171F"/>
                </a:solidFill>
              </a:rPr>
              <a:t>实验演示</a:t>
            </a:r>
            <a:endParaRPr kumimoji="1" lang="zh-CN" altLang="en-US" sz="32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F01D9BF-C407-41CE-458B-E5E024C86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35" y="899745"/>
            <a:ext cx="68707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961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87F48-71AA-6F54-4658-6B13F1ED2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>
            <a:extLst>
              <a:ext uri="{FF2B5EF4-FFF2-40B4-BE49-F238E27FC236}">
                <a16:creationId xmlns:a16="http://schemas.microsoft.com/office/drawing/2014/main" id="{7F8DD421-5978-3188-9A34-4D27BF90AFE3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3. </a:t>
            </a:r>
            <a:r>
              <a:rPr lang="zh-CN" altLang="en-US" sz="3200" b="1" dirty="0">
                <a:solidFill>
                  <a:srgbClr val="C8171F"/>
                </a:solidFill>
              </a:rPr>
              <a:t>实验演示</a:t>
            </a:r>
            <a:endParaRPr kumimoji="1" lang="zh-CN" altLang="en-US" sz="32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9711B7-1491-32B1-E3A7-0B29264BF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35" y="899745"/>
            <a:ext cx="6870700" cy="54102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8A38E2C-7838-194E-486B-B874055501E6}"/>
              </a:ext>
            </a:extLst>
          </p:cNvPr>
          <p:cNvSpPr txBox="1"/>
          <p:nvPr/>
        </p:nvSpPr>
        <p:spPr>
          <a:xfrm>
            <a:off x="7262445" y="1292470"/>
            <a:ext cx="3165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案例名称：你自己喜欢的名称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09ADBA-9096-2E43-76A8-55BB71D7D15C}"/>
              </a:ext>
            </a:extLst>
          </p:cNvPr>
          <p:cNvSpPr txBox="1"/>
          <p:nvPr/>
        </p:nvSpPr>
        <p:spPr>
          <a:xfrm>
            <a:off x="7262444" y="1954824"/>
            <a:ext cx="4457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CSV</a:t>
            </a:r>
            <a:r>
              <a:rPr kumimoji="1" lang="zh-CN" altLang="en-US" dirty="0"/>
              <a:t>路径：使用</a:t>
            </a:r>
            <a:r>
              <a:rPr kumimoji="1" lang="en-US" altLang="zh-CN" dirty="0"/>
              <a:t>PyCharm</a:t>
            </a:r>
            <a:r>
              <a:rPr kumimoji="1" lang="zh-CN" altLang="en-US" dirty="0"/>
              <a:t>的复制引用功能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C142C8-68CB-7DDA-170A-11A785DD9FE7}"/>
              </a:ext>
            </a:extLst>
          </p:cNvPr>
          <p:cNvSpPr txBox="1"/>
          <p:nvPr/>
        </p:nvSpPr>
        <p:spPr>
          <a:xfrm>
            <a:off x="7262444" y="2753239"/>
            <a:ext cx="4457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X</a:t>
            </a:r>
            <a:r>
              <a:rPr kumimoji="1" lang="zh-CN" altLang="en-US" dirty="0"/>
              <a:t>列名：打开</a:t>
            </a:r>
            <a:r>
              <a:rPr kumimoji="1" lang="en-US" altLang="zh-CN" dirty="0"/>
              <a:t>CSV</a:t>
            </a:r>
            <a:r>
              <a:rPr kumimoji="1" lang="zh-CN" altLang="en-US" dirty="0"/>
              <a:t>查找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4D3E56-9802-DAA9-5B76-A3095BB72D1C}"/>
              </a:ext>
            </a:extLst>
          </p:cNvPr>
          <p:cNvSpPr txBox="1"/>
          <p:nvPr/>
        </p:nvSpPr>
        <p:spPr>
          <a:xfrm>
            <a:off x="7262444" y="3420126"/>
            <a:ext cx="4457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Y</a:t>
            </a:r>
            <a:r>
              <a:rPr kumimoji="1" lang="zh-CN" altLang="en-US" dirty="0"/>
              <a:t>列名：打开</a:t>
            </a:r>
            <a:r>
              <a:rPr kumimoji="1" lang="en-US" altLang="zh-CN" dirty="0"/>
              <a:t>CSV</a:t>
            </a:r>
            <a:r>
              <a:rPr kumimoji="1" lang="zh-CN" altLang="en-US" dirty="0"/>
              <a:t>查找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7A1247-785C-BCC9-99A5-3708AA439528}"/>
              </a:ext>
            </a:extLst>
          </p:cNvPr>
          <p:cNvSpPr txBox="1"/>
          <p:nvPr/>
        </p:nvSpPr>
        <p:spPr>
          <a:xfrm>
            <a:off x="7262444" y="4148505"/>
            <a:ext cx="4457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用于绘图的</a:t>
            </a:r>
            <a:r>
              <a:rPr kumimoji="1" lang="en-US" altLang="zh-CN" dirty="0"/>
              <a:t>X</a:t>
            </a:r>
            <a:r>
              <a:rPr kumimoji="1" lang="zh-CN" altLang="en-US" dirty="0"/>
              <a:t>列名：从</a:t>
            </a:r>
            <a:r>
              <a:rPr kumimoji="1" lang="en-US" altLang="zh-CN" dirty="0"/>
              <a:t>X</a:t>
            </a:r>
            <a:r>
              <a:rPr kumimoji="1" lang="zh-CN" altLang="en-US" dirty="0"/>
              <a:t>列名中选取</a:t>
            </a:r>
            <a:r>
              <a:rPr kumimoji="1" lang="en-US" altLang="zh-CN" dirty="0"/>
              <a:t>1-2</a:t>
            </a:r>
            <a:r>
              <a:rPr kumimoji="1" lang="zh-CN" altLang="en-US" dirty="0"/>
              <a:t>个</a:t>
            </a:r>
          </a:p>
        </p:txBody>
      </p:sp>
    </p:spTree>
    <p:extLst>
      <p:ext uri="{BB962C8B-B14F-4D97-AF65-F5344CB8AC3E}">
        <p14:creationId xmlns:p14="http://schemas.microsoft.com/office/powerpoint/2010/main" val="4214648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284E6-B14E-40C7-F889-D6D7AF36F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>
            <a:extLst>
              <a:ext uri="{FF2B5EF4-FFF2-40B4-BE49-F238E27FC236}">
                <a16:creationId xmlns:a16="http://schemas.microsoft.com/office/drawing/2014/main" id="{9D68F073-31B6-9C3C-E680-1911F1178AFC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3. </a:t>
            </a:r>
            <a:r>
              <a:rPr lang="zh-CN" altLang="en-US" sz="3200" b="1" dirty="0">
                <a:solidFill>
                  <a:srgbClr val="C8171F"/>
                </a:solidFill>
              </a:rPr>
              <a:t>实验演示</a:t>
            </a:r>
            <a:endParaRPr kumimoji="1" lang="zh-CN" altLang="en-US" sz="32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A77051-B405-C1EB-FAFC-7C85309EF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6035" y="942766"/>
            <a:ext cx="6870700" cy="532415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9FE671A-7F8F-EDA7-2715-8F344524FBD5}"/>
              </a:ext>
            </a:extLst>
          </p:cNvPr>
          <p:cNvSpPr txBox="1"/>
          <p:nvPr/>
        </p:nvSpPr>
        <p:spPr>
          <a:xfrm>
            <a:off x="7262445" y="1292470"/>
            <a:ext cx="3165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案例名称：你自己喜欢的名称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68C380-3074-C9BD-E7E4-CDBA605C467F}"/>
              </a:ext>
            </a:extLst>
          </p:cNvPr>
          <p:cNvSpPr txBox="1"/>
          <p:nvPr/>
        </p:nvSpPr>
        <p:spPr>
          <a:xfrm>
            <a:off x="7262444" y="1954824"/>
            <a:ext cx="4457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CSV</a:t>
            </a:r>
            <a:r>
              <a:rPr kumimoji="1" lang="zh-CN" altLang="en-US" dirty="0"/>
              <a:t>路径：使用</a:t>
            </a:r>
            <a:r>
              <a:rPr kumimoji="1" lang="en-US" altLang="zh-CN" dirty="0"/>
              <a:t>PyCharm</a:t>
            </a:r>
            <a:r>
              <a:rPr kumimoji="1" lang="zh-CN" altLang="en-US" dirty="0"/>
              <a:t>的复制引用功能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E7D173-93BA-F46F-E3C4-A9D552E64C08}"/>
              </a:ext>
            </a:extLst>
          </p:cNvPr>
          <p:cNvSpPr txBox="1"/>
          <p:nvPr/>
        </p:nvSpPr>
        <p:spPr>
          <a:xfrm>
            <a:off x="7262444" y="2753239"/>
            <a:ext cx="4457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X</a:t>
            </a:r>
            <a:r>
              <a:rPr kumimoji="1" lang="zh-CN" altLang="en-US" dirty="0"/>
              <a:t>列名：打开</a:t>
            </a:r>
            <a:r>
              <a:rPr kumimoji="1" lang="en-US" altLang="zh-CN" dirty="0"/>
              <a:t>CSV</a:t>
            </a:r>
            <a:r>
              <a:rPr kumimoji="1" lang="zh-CN" altLang="en-US" dirty="0"/>
              <a:t>查找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62BBB6-BCAE-4833-C85E-B8A70F3FED1B}"/>
              </a:ext>
            </a:extLst>
          </p:cNvPr>
          <p:cNvSpPr txBox="1"/>
          <p:nvPr/>
        </p:nvSpPr>
        <p:spPr>
          <a:xfrm>
            <a:off x="7262444" y="3420126"/>
            <a:ext cx="4457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Y</a:t>
            </a:r>
            <a:r>
              <a:rPr kumimoji="1" lang="zh-CN" altLang="en-US" dirty="0"/>
              <a:t>列名：打开</a:t>
            </a:r>
            <a:r>
              <a:rPr kumimoji="1" lang="en-US" altLang="zh-CN" dirty="0"/>
              <a:t>CSV</a:t>
            </a:r>
            <a:r>
              <a:rPr kumimoji="1" lang="zh-CN" altLang="en-US" dirty="0"/>
              <a:t>查找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C73396-CB94-DE28-9697-D976DAACC243}"/>
              </a:ext>
            </a:extLst>
          </p:cNvPr>
          <p:cNvSpPr txBox="1"/>
          <p:nvPr/>
        </p:nvSpPr>
        <p:spPr>
          <a:xfrm>
            <a:off x="7262444" y="4148505"/>
            <a:ext cx="4457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用于绘图的</a:t>
            </a:r>
            <a:r>
              <a:rPr kumimoji="1" lang="en-US" altLang="zh-CN" dirty="0"/>
              <a:t>X</a:t>
            </a:r>
            <a:r>
              <a:rPr kumimoji="1" lang="zh-CN" altLang="en-US" dirty="0"/>
              <a:t>列名：从</a:t>
            </a:r>
            <a:r>
              <a:rPr kumimoji="1" lang="en-US" altLang="zh-CN" dirty="0"/>
              <a:t>X</a:t>
            </a:r>
            <a:r>
              <a:rPr kumimoji="1" lang="zh-CN" altLang="en-US" dirty="0"/>
              <a:t>列名中选取</a:t>
            </a:r>
            <a:r>
              <a:rPr kumimoji="1" lang="en-US" altLang="zh-CN" dirty="0"/>
              <a:t>1-2</a:t>
            </a:r>
            <a:r>
              <a:rPr kumimoji="1" lang="zh-CN" altLang="en-US" dirty="0"/>
              <a:t>个</a:t>
            </a:r>
          </a:p>
        </p:txBody>
      </p:sp>
    </p:spTree>
    <p:extLst>
      <p:ext uri="{BB962C8B-B14F-4D97-AF65-F5344CB8AC3E}">
        <p14:creationId xmlns:p14="http://schemas.microsoft.com/office/powerpoint/2010/main" val="2324028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/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3. </a:t>
            </a:r>
            <a:r>
              <a:rPr lang="zh-CN" altLang="en-US" sz="3200" b="1" dirty="0">
                <a:solidFill>
                  <a:srgbClr val="C8171F"/>
                </a:solidFill>
              </a:rPr>
              <a:t>实验演示</a:t>
            </a:r>
            <a:endParaRPr kumimoji="1" lang="zh-CN" altLang="en-US" sz="3200" b="1" dirty="0"/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DCE3D587-4CD7-43AC-F248-D07C0ECBDD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024" y="1039205"/>
            <a:ext cx="4884469" cy="4508741"/>
          </a:xfrm>
          <a:prstGeom prst="rect">
            <a:avLst/>
          </a:prstGeom>
        </p:spPr>
      </p:pic>
      <p:pic>
        <p:nvPicPr>
          <p:cNvPr id="8" name="图片 7" descr="图表, 散点图, 箱线图&#10;&#10;AI 生成的内容可能不正确。">
            <a:extLst>
              <a:ext uri="{FF2B5EF4-FFF2-40B4-BE49-F238E27FC236}">
                <a16:creationId xmlns:a16="http://schemas.microsoft.com/office/drawing/2014/main" id="{8FAD16BE-1811-C1F0-7DC9-1B4EEBD929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07" y="1477108"/>
            <a:ext cx="5514536" cy="344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3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C446E-3862-C07F-B789-79199F81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4">
            <a:extLst>
              <a:ext uri="{FF2B5EF4-FFF2-40B4-BE49-F238E27FC236}">
                <a16:creationId xmlns:a16="http://schemas.microsoft.com/office/drawing/2014/main" id="{5E621808-C278-F528-9311-87503BAFC918}"/>
              </a:ext>
            </a:extLst>
          </p:cNvPr>
          <p:cNvSpPr txBox="1"/>
          <p:nvPr/>
        </p:nvSpPr>
        <p:spPr>
          <a:xfrm>
            <a:off x="419465" y="80233"/>
            <a:ext cx="10176229" cy="598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 altLang="zh-CN" sz="3200" b="1" dirty="0">
                <a:solidFill>
                  <a:srgbClr val="C8171F"/>
                </a:solidFill>
              </a:rPr>
              <a:t>4. </a:t>
            </a:r>
            <a:r>
              <a:rPr lang="zh-CN" altLang="en-US" sz="3200" b="1" dirty="0">
                <a:solidFill>
                  <a:srgbClr val="C8171F"/>
                </a:solidFill>
              </a:rPr>
              <a:t>作业要求</a:t>
            </a:r>
            <a:endParaRPr kumimoji="1" lang="zh-CN" altLang="en-US" sz="32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DB1A0B4-3151-FDF1-546D-07CD7ACF994F}"/>
              </a:ext>
            </a:extLst>
          </p:cNvPr>
          <p:cNvSpPr txBox="1"/>
          <p:nvPr/>
        </p:nvSpPr>
        <p:spPr>
          <a:xfrm>
            <a:off x="196644" y="965630"/>
            <a:ext cx="7549379" cy="7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20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400" dirty="0">
                <a:cs typeface="Times New Roman" panose="02020603050405020304" pitchFamily="18" charset="0"/>
              </a:rPr>
              <a:t>选择合适的用于拟合的</a:t>
            </a:r>
            <a:r>
              <a:rPr lang="en-US" altLang="zh-CN" sz="2400" dirty="0"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cs typeface="Times New Roman" panose="02020603050405020304" pitchFamily="18" charset="0"/>
              </a:rPr>
              <a:t>列名，使得拟合效果最好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4A2E3D-6A89-8AE0-E417-BE1DFBA9E5E4}"/>
              </a:ext>
            </a:extLst>
          </p:cNvPr>
          <p:cNvSpPr txBox="1"/>
          <p:nvPr/>
        </p:nvSpPr>
        <p:spPr>
          <a:xfrm>
            <a:off x="196644" y="2050015"/>
            <a:ext cx="7549379" cy="7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20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400" dirty="0">
                <a:cs typeface="Times New Roman" panose="02020603050405020304" pitchFamily="18" charset="0"/>
              </a:rPr>
              <a:t>详细要求在</a:t>
            </a:r>
            <a:r>
              <a:rPr lang="en-US" altLang="zh-CN" sz="2400" dirty="0" err="1">
                <a:cs typeface="Times New Roman" panose="02020603050405020304" pitchFamily="18" charset="0"/>
              </a:rPr>
              <a:t>homework.docx</a:t>
            </a:r>
            <a:r>
              <a:rPr lang="zh-CN" altLang="en-US" sz="2400" dirty="0">
                <a:cs typeface="Times New Roman" panose="02020603050405020304" pitchFamily="18" charset="0"/>
              </a:rPr>
              <a:t>当中</a:t>
            </a:r>
            <a:endParaRPr lang="en-US" altLang="zh-CN" sz="2400" dirty="0"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208E90B-D41B-3745-97C4-D5CF189FDA1A}"/>
              </a:ext>
            </a:extLst>
          </p:cNvPr>
          <p:cNvSpPr txBox="1"/>
          <p:nvPr/>
        </p:nvSpPr>
        <p:spPr>
          <a:xfrm>
            <a:off x="196644" y="3370156"/>
            <a:ext cx="10176229" cy="718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lvl="1" indent="-228600">
              <a:lnSpc>
                <a:spcPct val="2000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2400" dirty="0">
                <a:cs typeface="Times New Roman" panose="02020603050405020304" pitchFamily="18" charset="0"/>
              </a:rPr>
              <a:t>将整个</a:t>
            </a:r>
            <a:r>
              <a:rPr lang="en-US" altLang="zh-CN" sz="2400" dirty="0">
                <a:cs typeface="Times New Roman" panose="02020603050405020304" pitchFamily="18" charset="0"/>
              </a:rPr>
              <a:t>PJ-regression</a:t>
            </a:r>
            <a:r>
              <a:rPr lang="zh-CN" altLang="en-US" sz="2400" dirty="0">
                <a:cs typeface="Times New Roman" panose="02020603050405020304" pitchFamily="18" charset="0"/>
              </a:rPr>
              <a:t>文件夹压缩为</a:t>
            </a:r>
            <a:r>
              <a:rPr lang="en-US" altLang="zh-CN" sz="2400" dirty="0">
                <a:cs typeface="Times New Roman" panose="02020603050405020304" pitchFamily="18" charset="0"/>
              </a:rPr>
              <a:t>PJ-</a:t>
            </a:r>
            <a:r>
              <a:rPr lang="en-US" altLang="zh-CN" sz="2400" dirty="0" err="1">
                <a:cs typeface="Times New Roman" panose="02020603050405020304" pitchFamily="18" charset="0"/>
              </a:rPr>
              <a:t>regression.zip</a:t>
            </a:r>
            <a:r>
              <a:rPr lang="zh-CN" altLang="en-US" sz="2400" dirty="0">
                <a:cs typeface="Times New Roman" panose="02020603050405020304" pitchFamily="18" charset="0"/>
              </a:rPr>
              <a:t>，提交到</a:t>
            </a:r>
            <a:r>
              <a:rPr lang="en-US" altLang="zh-CN" sz="2400" dirty="0">
                <a:cs typeface="Times New Roman" panose="02020603050405020304" pitchFamily="18" charset="0"/>
              </a:rPr>
              <a:t>canvas</a:t>
            </a:r>
          </a:p>
        </p:txBody>
      </p:sp>
    </p:spTree>
    <p:extLst>
      <p:ext uri="{BB962C8B-B14F-4D97-AF65-F5344CB8AC3E}">
        <p14:creationId xmlns:p14="http://schemas.microsoft.com/office/powerpoint/2010/main" val="3990770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pc="600" dirty="0"/>
              <a:t>   谢 谢！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  <p:tag name="KSO_WPP_MARK_KEY" val="6c882dea-c2c2-44ed-8ac6-7b32c5f18ba2"/>
  <p:tag name="COMMONDATA" val="eyJoZGlkIjoiOGZjNDIyMTg0NzY4NjFjYmY3NzIzZDU4MTVjNThmNDYifQ=="/>
</p:tagLst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</TotalTime>
  <Words>281</Words>
  <Application>Microsoft Macintosh PowerPoint</Application>
  <PresentationFormat>宽屏</PresentationFormat>
  <Paragraphs>52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微软雅黑</vt:lpstr>
      <vt:lpstr>Arial</vt:lpstr>
      <vt:lpstr>Cambria Math</vt:lpstr>
      <vt:lpstr>Times New Roman</vt:lpstr>
      <vt:lpstr>Office 主题​​</vt:lpstr>
      <vt:lpstr>线性回归实验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 李</dc:creator>
  <cp:lastModifiedBy>Hzj Star</cp:lastModifiedBy>
  <cp:revision>232</cp:revision>
  <dcterms:created xsi:type="dcterms:W3CDTF">2019-01-23T14:14:00Z</dcterms:created>
  <dcterms:modified xsi:type="dcterms:W3CDTF">2026-04-17T19:06:30Z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AE9988E375D14F61AE50737199A113DB_12</vt:lpwstr>
  </property>
  <property fmtid="{D5CDD505-2E9C-101B-9397-08002B2CF9AE}" pid="3" name="KSOProductBuildVer">
    <vt:lpwstr>2052-11.1.0.14036</vt:lpwstr>
  </property>
</Properties>
</file>